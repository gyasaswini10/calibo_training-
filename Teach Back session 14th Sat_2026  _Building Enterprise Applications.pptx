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notesMasterIdLst>
    <p:notesMasterId r:id="rId21"/>
  </p:notesMasterIdLst>
  <p:handoutMasterIdLst>
    <p:handoutMasterId r:id="rId22"/>
  </p:handoutMasterIdLst>
  <p:sldIdLst>
    <p:sldId id="2147480601" r:id="rId2"/>
    <p:sldId id="2147480775" r:id="rId3"/>
    <p:sldId id="2147480774" r:id="rId4"/>
    <p:sldId id="2147480782" r:id="rId5"/>
    <p:sldId id="2147480784" r:id="rId6"/>
    <p:sldId id="2147480778" r:id="rId7"/>
    <p:sldId id="2147480780" r:id="rId8"/>
    <p:sldId id="2147480709" r:id="rId9"/>
    <p:sldId id="2147480779" r:id="rId10"/>
    <p:sldId id="2147480776" r:id="rId11"/>
    <p:sldId id="2147480773" r:id="rId12"/>
    <p:sldId id="2147480777" r:id="rId13"/>
    <p:sldId id="2147480684" r:id="rId14"/>
    <p:sldId id="2147480785" r:id="rId15"/>
    <p:sldId id="2147480786" r:id="rId16"/>
    <p:sldId id="2147480781" r:id="rId17"/>
    <p:sldId id="2147480783" r:id="rId18"/>
    <p:sldId id="2147480788" r:id="rId19"/>
    <p:sldId id="214748078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38A106-41C3-8D84-A035-0FA0EAB73D00}" name="Margarita Rosa Fakih Name" initials="MN" userId="S::mname@altimetrik.com::039fb387-827f-4e01-9003-8eeafcba69bb" providerId="AD"/>
  <p188:author id="{B5C3C748-BD20-3638-593F-917A9A876BCB}" name="Eduardo Iglesias" initials="EI" userId="S::eiglesias@altimetrik.com::a1aac209-6df1-429b-bb60-a9febb77a801" providerId="AD"/>
  <p188:author id="{D656CD63-D08D-E3B5-B292-C0F5A552565A}" name="Sinoe Figueroa" initials="" userId="S::sfigueroa@altimetrik.com::790df527-8e13-4825-9a2f-0a81fca854d8" providerId="AD"/>
  <p188:author id="{BD6AF769-BBF0-E7A7-00B0-7EEFDF630186}" name="Angel Sanchez" initials="AS" userId="S::asanchez@altimetrik.com::142a67e2-9baf-4784-835a-5953b53a3f67" providerId="AD"/>
  <p188:author id="{C73BCF93-87F0-FC80-449E-54D18CB346EF}" name="Ignacio Segovia" initials="IS" userId="S::isegovia@altimetrik.com::0c0da7c7-91d5-4ab7-b9b5-5bec738087e6" providerId="AD"/>
  <p188:author id="{7308509E-5B4E-7DFE-74F7-7957B316209C}" name="Savitri Gokarnesan" initials="SG" userId="S::sgokarnesan@altimetrik.com::82d04d58-c56b-4233-8e5e-1c3c315c7454" providerId="AD"/>
  <p188:author id="{2228F3C1-59E6-8269-2F51-81AB29025288}" name="Udaya Teegavarapu" initials="" userId="S::uteegavarapu@altimetrik.com::51ff6900-ac99-416c-8591-a13aff9349f2" providerId="AD"/>
  <p188:author id="{45F473F4-0409-31AD-E9E9-AD5053CE3DF1}" name="Shaik Hidayathulla" initials="SH" userId="S::shidayathulla@altimetrik.com::b8e733fa-5439-4aa1-b270-7f2acf1321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BC8A"/>
    <a:srgbClr val="EEEADA"/>
    <a:srgbClr val="EBE7D5"/>
    <a:srgbClr val="E7E2CB"/>
    <a:srgbClr val="E3DDC3"/>
    <a:srgbClr val="CFC599"/>
    <a:srgbClr val="0F86C1"/>
    <a:srgbClr val="53F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33"/>
  </p:normalViewPr>
  <p:slideViewPr>
    <p:cSldViewPr snapToGrid="0">
      <p:cViewPr varScale="1">
        <p:scale>
          <a:sx n="84" d="100"/>
          <a:sy n="84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E256AB-1F3A-B05A-2A8D-6501751D9C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53240-7D01-D53D-785B-4817623299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D9204-71D8-4F8B-B9D4-80D823642F3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BB4D9-C4E0-C0C7-5ADC-EBC26AB899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06D08-6653-7D35-4BCD-1171EFCE79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5DFEB-F53F-47E4-B517-AC8706CC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732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38DD1-0B59-5C4B-8B38-36797670D02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49C9A-2A2C-EF41-B3E2-0051F22E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201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49C9A-2A2C-EF41-B3E2-0051F22E38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11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49C9A-2A2C-EF41-B3E2-0051F22E38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61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4E68-D537-4CE6-ADE9-6333CE87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63C18-8FE0-230B-69B7-8F5C5310A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D2B93-7D94-F4F9-5833-3B62912B2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4448-A69A-1EB9-24C1-295E29BA2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EA8F8-7461-449D-A1A9-21550489D3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59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49C9A-2A2C-EF41-B3E2-0051F22E3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13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49C9A-2A2C-EF41-B3E2-0051F22E38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4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49C9A-2A2C-EF41-B3E2-0051F22E38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75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DAA7-BFB1-46F7-833D-7A464B399D90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36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EDD5-7096-4C08-A97A-4FA7FC8A1422}" type="datetime1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B7B6-67CC-4766-BFDC-1B9600B33968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9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876F-0F8C-45E0-8FFB-8C0F30C8D08D}" type="datetime1">
              <a:rPr lang="en-US" smtClean="0"/>
              <a:t>3/14/2026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5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2EC8C-876D-4152-88C9-EEB4F3E0935C}" type="datetime1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1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178D-C273-4598-8311-228D3D5B33A4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8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A7EB-A8B3-47C2-B721-745E37A12162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3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C3351-9377-419F-A5A3-CB677CF82C1E}" type="datetime1">
              <a:rPr lang="en-US" smtClean="0"/>
              <a:t>3/14/2026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9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C874C75-4337-4499-AD82-51FA8E1759F2}" type="datetime1">
              <a:rPr lang="en-US" smtClean="0"/>
              <a:t>3/14/2026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5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5B58-5776-481F-88D8-244F8180068F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5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A7D-85D6-4308-AD62-74F5B3F80630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6290231-F723-4C41-AFC8-86FA28E4AD9F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6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0992-CF0D-3B2C-08F5-28B074D1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C6C7F-A15D-3A61-349D-4FA951B9A6AB}"/>
              </a:ext>
            </a:extLst>
          </p:cNvPr>
          <p:cNvSpPr/>
          <p:nvPr/>
        </p:nvSpPr>
        <p:spPr>
          <a:xfrm>
            <a:off x="892077" y="801546"/>
            <a:ext cx="10103872" cy="47543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8" name="Overview">
            <a:extLst>
              <a:ext uri="{FF2B5EF4-FFF2-40B4-BE49-F238E27FC236}">
                <a16:creationId xmlns:a16="http://schemas.microsoft.com/office/drawing/2014/main" id="{DBF6535E-E734-7313-62DA-940258081C48}"/>
              </a:ext>
            </a:extLst>
          </p:cNvPr>
          <p:cNvSpPr txBox="1"/>
          <p:nvPr/>
        </p:nvSpPr>
        <p:spPr>
          <a:xfrm>
            <a:off x="1196050" y="2426658"/>
            <a:ext cx="9383557" cy="245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EAEAEA"/>
                </a:solidFill>
                <a:latin typeface="Lato Bold"/>
                <a:ea typeface="Lato Bold"/>
                <a:cs typeface="Lato Bold"/>
                <a:sym typeface="Lato Bold"/>
              </a:defRPr>
            </a:lvl1pPr>
          </a:lstStyle>
          <a:p>
            <a:pPr lvl="0" algn="l"/>
            <a:endParaRPr lang="en-US" sz="3600" b="1" dirty="0">
              <a:solidFill>
                <a:schemeClr val="tx1"/>
              </a:solidFill>
              <a:latin typeface="+mn-lt"/>
            </a:endParaRPr>
          </a:p>
          <a:p>
            <a:pPr lvl="0" algn="l"/>
            <a:r>
              <a:rPr lang="en-US" sz="3600" b="1" dirty="0">
                <a:solidFill>
                  <a:schemeClr val="tx1"/>
                </a:solidFill>
                <a:latin typeface="+mn-lt"/>
              </a:rPr>
              <a:t>Building Enterprise Applications</a:t>
            </a:r>
          </a:p>
          <a:p>
            <a:pPr lvl="0" algn="l"/>
            <a:endParaRPr lang="en-US" sz="2800" b="1" dirty="0">
              <a:solidFill>
                <a:schemeClr val="tx1"/>
              </a:solidFill>
              <a:latin typeface="+mn-lt"/>
            </a:endParaRPr>
          </a:p>
          <a:p>
            <a:pPr lvl="0" algn="l"/>
            <a:r>
              <a:rPr lang="en-US" sz="2800" dirty="0">
                <a:solidFill>
                  <a:schemeClr val="tx1"/>
                </a:solidFill>
                <a:latin typeface="+mn-lt"/>
              </a:rPr>
              <a:t>Insights gained during training at </a:t>
            </a:r>
            <a:r>
              <a:rPr lang="en-US" sz="2800" b="1" dirty="0" err="1">
                <a:solidFill>
                  <a:schemeClr val="tx1"/>
                </a:solidFill>
                <a:latin typeface="+mn-lt"/>
              </a:rPr>
              <a:t>Calibo</a:t>
            </a:r>
            <a:endParaRPr lang="en-US" sz="2800" b="1" dirty="0">
              <a:solidFill>
                <a:schemeClr val="tx1"/>
              </a:solidFill>
              <a:latin typeface="+mn-lt"/>
            </a:endParaRPr>
          </a:p>
          <a:p>
            <a:pPr lvl="0" algn="l"/>
            <a:r>
              <a:rPr lang="en-US" sz="2800" dirty="0" err="1">
                <a:solidFill>
                  <a:schemeClr val="tx1"/>
                </a:solidFill>
                <a:latin typeface="+mn-lt"/>
              </a:rPr>
              <a:t>Gurivi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Reddy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Yasaswini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Lato"/>
              <a:cs typeface="Lato"/>
              <a:sym typeface="Lato Bold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5F692-5A19-C377-1324-560F701A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6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AD29-D873-A2B3-F751-685123FC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A5C6E-246B-4753-C19A-F038D0AEFE09}"/>
              </a:ext>
            </a:extLst>
          </p:cNvPr>
          <p:cNvSpPr txBox="1"/>
          <p:nvPr/>
        </p:nvSpPr>
        <p:spPr>
          <a:xfrm>
            <a:off x="939800" y="1640552"/>
            <a:ext cx="102717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An Enterprise application is a </a:t>
            </a:r>
            <a:r>
              <a:rPr lang="en-IN" sz="2800" b="1" dirty="0"/>
              <a:t>large-scale software system</a:t>
            </a:r>
            <a:r>
              <a:rPr lang="en-IN" sz="2800" dirty="0"/>
              <a:t> designed to support </a:t>
            </a:r>
            <a:r>
              <a:rPr lang="en-IN" sz="2800" b="1" dirty="0"/>
              <a:t>core business processes</a:t>
            </a:r>
            <a:r>
              <a:rPr lang="en-IN" sz="2800" dirty="0"/>
              <a:t> across departments, users, and geographies. </a:t>
            </a:r>
          </a:p>
          <a:p>
            <a:r>
              <a:rPr lang="en-US" sz="2800" dirty="0"/>
              <a:t>It focuses on scalability, reliability, security, integration, and maintainability. It can support thousands or millions of users and handle critical business operations.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09DCC-BA4E-47FF-0C67-1E807909055B}"/>
              </a:ext>
            </a:extLst>
          </p:cNvPr>
          <p:cNvSpPr txBox="1"/>
          <p:nvPr/>
        </p:nvSpPr>
        <p:spPr>
          <a:xfrm>
            <a:off x="975360" y="738632"/>
            <a:ext cx="7635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What is an Enterprise Application?</a:t>
            </a:r>
            <a:endParaRPr lang="en-US" sz="3600" dirty="0"/>
          </a:p>
          <a:p>
            <a:endParaRPr lang="en-IN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F0E54-8EDB-21D9-4F2E-4E16A2D4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5CA42-2F07-11FA-633C-507F83FA1E21}"/>
              </a:ext>
            </a:extLst>
          </p:cNvPr>
          <p:cNvSpPr txBox="1"/>
          <p:nvPr/>
        </p:nvSpPr>
        <p:spPr>
          <a:xfrm>
            <a:off x="975360" y="4487485"/>
            <a:ext cx="10241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Real World Examples: </a:t>
            </a:r>
            <a:r>
              <a:rPr lang="en-IN" sz="2800" dirty="0"/>
              <a:t>Microsoft Teams, Outlook, </a:t>
            </a:r>
            <a:r>
              <a:rPr lang="en-US" sz="2800" dirty="0"/>
              <a:t>Banking systems used by banks like State Bank of India, Airline reservation systems used by airlines like IndiGo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0115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73D2-ABB8-C3D8-495E-13D66546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efinition, Design &amp; Prototyping">
            <a:extLst>
              <a:ext uri="{FF2B5EF4-FFF2-40B4-BE49-F238E27FC236}">
                <a16:creationId xmlns:a16="http://schemas.microsoft.com/office/drawing/2014/main" id="{69E7A624-B076-D756-006C-012B135D9B91}"/>
              </a:ext>
            </a:extLst>
          </p:cNvPr>
          <p:cNvSpPr txBox="1"/>
          <p:nvPr/>
        </p:nvSpPr>
        <p:spPr>
          <a:xfrm>
            <a:off x="944954" y="627583"/>
            <a:ext cx="955163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t">
            <a:spAutoFit/>
          </a:bodyPr>
          <a:lstStyle>
            <a:defPPr>
              <a:defRPr lang="en-US"/>
            </a:defPPr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1">
                <a:solidFill>
                  <a:srgbClr val="29123A"/>
                </a:solidFill>
                <a:latin typeface="Lato"/>
                <a:ea typeface="Lato"/>
                <a:cs typeface="Lato"/>
              </a:defRPr>
            </a:lvl1pPr>
          </a:lstStyle>
          <a:p>
            <a:r>
              <a:rPr lang="en-IN" dirty="0"/>
              <a:t>Enterprise System Design Principles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34934-2091-C965-A38C-40ABEDA4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E3FFA-1A38-C266-E2A3-60DEC1EC9FCC}"/>
              </a:ext>
            </a:extLst>
          </p:cNvPr>
          <p:cNvSpPr txBox="1"/>
          <p:nvPr/>
        </p:nvSpPr>
        <p:spPr>
          <a:xfrm>
            <a:off x="944954" y="1999411"/>
            <a:ext cx="4303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Scale &amp; Load</a:t>
            </a:r>
          </a:p>
          <a:p>
            <a:r>
              <a:rPr lang="en-US" sz="2400" dirty="0"/>
              <a:t>Handle high traffic by distributing requests across multiple servers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E6ECE-92EF-3B20-39E0-50E3B7243F25}"/>
              </a:ext>
            </a:extLst>
          </p:cNvPr>
          <p:cNvSpPr txBox="1"/>
          <p:nvPr/>
        </p:nvSpPr>
        <p:spPr>
          <a:xfrm>
            <a:off x="5997184" y="2090851"/>
            <a:ext cx="4761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Security &amp; Compliance </a:t>
            </a:r>
            <a:endParaRPr lang="en-US" sz="2400" dirty="0"/>
          </a:p>
          <a:p>
            <a:r>
              <a:rPr lang="en-US" sz="2400" dirty="0"/>
              <a:t>Protect data and control access using authentication, authorization (IAM), and regulatory policies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616034-9A8B-8691-B5F4-B76073C2C011}"/>
              </a:ext>
            </a:extLst>
          </p:cNvPr>
          <p:cNvSpPr txBox="1"/>
          <p:nvPr/>
        </p:nvSpPr>
        <p:spPr>
          <a:xfrm>
            <a:off x="944954" y="3839144"/>
            <a:ext cx="4405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Performance &amp; Latency</a:t>
            </a:r>
          </a:p>
          <a:p>
            <a:r>
              <a:rPr lang="en-US" sz="2400" dirty="0"/>
              <a:t>Improve system speed using caching, CDNs, and asynchronous processing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DD46E-D28A-41BD-ADA4-D4B1448DA19B}"/>
              </a:ext>
            </a:extLst>
          </p:cNvPr>
          <p:cNvSpPr txBox="1"/>
          <p:nvPr/>
        </p:nvSpPr>
        <p:spPr>
          <a:xfrm>
            <a:off x="6047354" y="3839144"/>
            <a:ext cx="4661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Observability &amp; Operations</a:t>
            </a:r>
          </a:p>
          <a:p>
            <a:r>
              <a:rPr lang="en-US" sz="2400" dirty="0"/>
              <a:t>Monitor system health using metrics, logs, tracing, and alerts.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8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AD4B60-B466-D909-D52F-B3BBAED09A39}"/>
              </a:ext>
            </a:extLst>
          </p:cNvPr>
          <p:cNvSpPr txBox="1"/>
          <p:nvPr/>
        </p:nvSpPr>
        <p:spPr>
          <a:xfrm>
            <a:off x="847846" y="5347502"/>
            <a:ext cx="10252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Upgrading a virtual machine in Amazon Web Services Amazon EC2 from </a:t>
            </a:r>
            <a:r>
              <a:rPr lang="en-US" b="1" dirty="0"/>
              <a:t>2 CPU and 4 GB RAM</a:t>
            </a:r>
            <a:r>
              <a:rPr lang="en-US" dirty="0"/>
              <a:t> to </a:t>
            </a:r>
            <a:r>
              <a:rPr lang="en-US" b="1" dirty="0"/>
              <a:t>8 CPU and 16 GB RAM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cloud server increases its </a:t>
            </a:r>
            <a:r>
              <a:rPr lang="en-US" b="1" dirty="0"/>
              <a:t>storage capacity</a:t>
            </a:r>
            <a:r>
              <a:rPr lang="en-US" dirty="0"/>
              <a:t> from </a:t>
            </a:r>
            <a:r>
              <a:rPr lang="en-US" b="1" dirty="0"/>
              <a:t>100 GB to 1 TB</a:t>
            </a:r>
            <a:r>
              <a:rPr lang="en-US" dirty="0"/>
              <a:t> to store more data.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6993-25A3-C560-B963-F2B391B3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AEC26-659F-F633-8BFB-053BD15E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70"/>
          <a:stretch>
            <a:fillRect/>
          </a:stretch>
        </p:blipFill>
        <p:spPr>
          <a:xfrm>
            <a:off x="6190488" y="241389"/>
            <a:ext cx="4799108" cy="5068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5C9525-AAF4-B875-112A-C16F1B92F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0"/>
          <a:stretch>
            <a:fillRect/>
          </a:stretch>
        </p:blipFill>
        <p:spPr>
          <a:xfrm>
            <a:off x="920998" y="241389"/>
            <a:ext cx="4556258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7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4FC04F-EC9C-D76D-AD3C-07A221F3F21D}"/>
              </a:ext>
            </a:extLst>
          </p:cNvPr>
          <p:cNvSpPr txBox="1"/>
          <p:nvPr/>
        </p:nvSpPr>
        <p:spPr>
          <a:xfrm>
            <a:off x="530439" y="769959"/>
            <a:ext cx="5065102" cy="3769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Amazon CloudFront</a:t>
            </a:r>
            <a:r>
              <a:rPr lang="en-US" sz="2000" dirty="0"/>
              <a:t> is a </a:t>
            </a:r>
            <a:r>
              <a:rPr lang="en-US" sz="2000" b="1" dirty="0"/>
              <a:t>Content Delivery Network (CDN)</a:t>
            </a:r>
            <a:r>
              <a:rPr lang="en-US" sz="2000" dirty="0"/>
              <a:t> that delivers data, videos, and applications to users with low latency.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It distributes content through a global    network of</a:t>
            </a:r>
            <a:r>
              <a:rPr lang="en-US" sz="2000" b="1" dirty="0"/>
              <a:t> edge locations </a:t>
            </a:r>
            <a:r>
              <a:rPr lang="en-US" sz="2000" dirty="0"/>
              <a:t>to improve speed.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It integrates with services like </a:t>
            </a:r>
            <a:r>
              <a:rPr lang="en-US" sz="2000" b="1" dirty="0"/>
              <a:t>Amazon Web Services</a:t>
            </a:r>
            <a:r>
              <a:rPr lang="en-US" sz="2000" dirty="0"/>
              <a:t> storage and servers to securely deliver content.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E3E26-7E3E-0E90-45CE-A7D2ACC3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" b="4911"/>
          <a:stretch>
            <a:fillRect/>
          </a:stretch>
        </p:blipFill>
        <p:spPr>
          <a:xfrm>
            <a:off x="6096000" y="769959"/>
            <a:ext cx="5334197" cy="531808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EBE91-614B-8C1A-E95C-1A409E93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099798-B351-E309-D8A4-D8CF716D8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730512"/>
              </p:ext>
            </p:extLst>
          </p:nvPr>
        </p:nvGraphicFramePr>
        <p:xfrm>
          <a:off x="1263576" y="2411560"/>
          <a:ext cx="9648263" cy="3349888"/>
        </p:xfrm>
        <a:graphic>
          <a:graphicData uri="http://schemas.openxmlformats.org/drawingml/2006/table">
            <a:tbl>
              <a:tblPr/>
              <a:tblGrid>
                <a:gridCol w="4855803">
                  <a:extLst>
                    <a:ext uri="{9D8B030D-6E8A-4147-A177-3AD203B41FA5}">
                      <a16:colId xmlns:a16="http://schemas.microsoft.com/office/drawing/2014/main" val="1687453833"/>
                    </a:ext>
                  </a:extLst>
                </a:gridCol>
                <a:gridCol w="4792460">
                  <a:extLst>
                    <a:ext uri="{9D8B030D-6E8A-4147-A177-3AD203B41FA5}">
                      <a16:colId xmlns:a16="http://schemas.microsoft.com/office/drawing/2014/main" val="581808147"/>
                    </a:ext>
                  </a:extLst>
                </a:gridCol>
              </a:tblGrid>
              <a:tr h="761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Describe what the system </a:t>
                      </a:r>
                      <a:r>
                        <a:rPr lang="en-US" sz="2000" b="1" dirty="0"/>
                        <a:t>should do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Describe how the system </a:t>
                      </a:r>
                      <a:r>
                        <a:rPr lang="en-US" sz="2000" b="1" dirty="0"/>
                        <a:t>should perform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0843"/>
                  </a:ext>
                </a:extLst>
              </a:tr>
              <a:tr h="761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Define </a:t>
                      </a:r>
                      <a:r>
                        <a:rPr lang="en-US" sz="2000" b="1" dirty="0"/>
                        <a:t>features and functions </a:t>
                      </a:r>
                      <a:r>
                        <a:rPr lang="en-US" sz="2000" b="0" dirty="0"/>
                        <a:t>of the system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Define </a:t>
                      </a:r>
                      <a:r>
                        <a:rPr lang="en-US" sz="2000" b="1" dirty="0"/>
                        <a:t>quality attributes </a:t>
                      </a:r>
                      <a:r>
                        <a:rPr lang="en-US" sz="2000" b="0" dirty="0"/>
                        <a:t>of the system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428503"/>
                  </a:ext>
                </a:extLst>
              </a:tr>
              <a:tr h="761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Represent user interactions and system behavior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Focus on performance, security, reliability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967239"/>
                  </a:ext>
                </a:extLst>
              </a:tr>
              <a:tr h="1066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Examples: User login, Order placement, Payment processing</a:t>
                      </a: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Examples: Fast response </a:t>
                      </a:r>
                      <a:r>
                        <a:rPr lang="en-US" sz="2000" b="0" dirty="0" err="1"/>
                        <a:t>timeScalability</a:t>
                      </a:r>
                      <a:r>
                        <a:rPr lang="en-US" sz="2000" b="0" dirty="0"/>
                        <a:t>,</a:t>
                      </a:r>
                      <a:r>
                        <a:rPr lang="en-US" sz="2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regular"/>
                          <a:ea typeface="lato regular"/>
                          <a:cs typeface="lato regular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  <a:ea typeface="lato regular"/>
                          <a:cs typeface="lato regular"/>
                        </a:rPr>
                        <a:t>Audit Trails,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Processing Time, PII Compliance</a:t>
                      </a:r>
                      <a:endParaRPr lang="en-IN" sz="2000" dirty="0">
                        <a:effectLst/>
                      </a:endParaRP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4356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DB631-401A-3EB1-392E-5B5FE59E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787276-E384-2A49-5AA4-22D8C8238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33540"/>
              </p:ext>
            </p:extLst>
          </p:nvPr>
        </p:nvGraphicFramePr>
        <p:xfrm>
          <a:off x="1280160" y="889016"/>
          <a:ext cx="9631680" cy="456472"/>
        </p:xfrm>
        <a:graphic>
          <a:graphicData uri="http://schemas.openxmlformats.org/drawingml/2006/table">
            <a:tbl>
              <a:tblPr/>
              <a:tblGrid>
                <a:gridCol w="4873752">
                  <a:extLst>
                    <a:ext uri="{9D8B030D-6E8A-4147-A177-3AD203B41FA5}">
                      <a16:colId xmlns:a16="http://schemas.microsoft.com/office/drawing/2014/main" val="4150382357"/>
                    </a:ext>
                  </a:extLst>
                </a:gridCol>
                <a:gridCol w="4757928">
                  <a:extLst>
                    <a:ext uri="{9D8B030D-6E8A-4147-A177-3AD203B41FA5}">
                      <a16:colId xmlns:a16="http://schemas.microsoft.com/office/drawing/2014/main" val="3851203317"/>
                    </a:ext>
                  </a:extLst>
                </a:gridCol>
              </a:tblGrid>
              <a:tr h="456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Functional Requirements</a:t>
                      </a:r>
                      <a:endParaRPr lang="en-IN" sz="2000" dirty="0"/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Non-Functional Requirements</a:t>
                      </a:r>
                      <a:endParaRPr lang="en-IN" sz="2000" dirty="0"/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7728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D2F18F-83E2-1CAD-1CA5-AE31C21E3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40643"/>
              </p:ext>
            </p:extLst>
          </p:nvPr>
        </p:nvGraphicFramePr>
        <p:xfrm>
          <a:off x="1263577" y="1345488"/>
          <a:ext cx="9648263" cy="1066072"/>
        </p:xfrm>
        <a:graphic>
          <a:graphicData uri="http://schemas.openxmlformats.org/drawingml/2006/table">
            <a:tbl>
              <a:tblPr/>
              <a:tblGrid>
                <a:gridCol w="4855803">
                  <a:extLst>
                    <a:ext uri="{9D8B030D-6E8A-4147-A177-3AD203B41FA5}">
                      <a16:colId xmlns:a16="http://schemas.microsoft.com/office/drawing/2014/main" val="2577202222"/>
                    </a:ext>
                  </a:extLst>
                </a:gridCol>
                <a:gridCol w="4792460">
                  <a:extLst>
                    <a:ext uri="{9D8B030D-6E8A-4147-A177-3AD203B41FA5}">
                      <a16:colId xmlns:a16="http://schemas.microsoft.com/office/drawing/2014/main" val="1110680265"/>
                    </a:ext>
                  </a:extLst>
                </a:gridCol>
              </a:tblGrid>
              <a:tr h="1066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Student Analogy : Attend classes,</a:t>
                      </a:r>
                      <a:r>
                        <a:rPr lang="en-IN" sz="2000" dirty="0"/>
                        <a:t> Write exams</a:t>
                      </a:r>
                      <a:endParaRPr lang="en-IN" sz="2000" b="0" dirty="0"/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</a:rPr>
                        <a:t>Student Analogy : </a:t>
                      </a:r>
                      <a:r>
                        <a:rPr lang="en-IN" sz="2000" b="0" dirty="0"/>
                        <a:t>Discipline</a:t>
                      </a:r>
                      <a:r>
                        <a:rPr lang="en-IN" sz="2000" dirty="0"/>
                        <a:t> ,</a:t>
                      </a:r>
                      <a:r>
                        <a:rPr lang="en-IN" sz="2000" b="0" dirty="0"/>
                        <a:t>Focus , Consistency, Punctuality</a:t>
                      </a:r>
                      <a:endParaRPr lang="en-IN" sz="2000" b="0" dirty="0">
                        <a:effectLst/>
                      </a:endParaRPr>
                    </a:p>
                  </a:txBody>
                  <a:tcPr marL="115096" marR="115096" marT="57548" marB="5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647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00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D7CD2-CE11-59EF-19B7-72273B8D1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0" r="2869"/>
          <a:stretch>
            <a:fillRect/>
          </a:stretch>
        </p:blipFill>
        <p:spPr>
          <a:xfrm>
            <a:off x="508001" y="478172"/>
            <a:ext cx="6217920" cy="5884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7080FC-CA26-0C62-1669-9D99A0E12900}"/>
              </a:ext>
            </a:extLst>
          </p:cNvPr>
          <p:cNvSpPr txBox="1"/>
          <p:nvPr/>
        </p:nvSpPr>
        <p:spPr>
          <a:xfrm>
            <a:off x="6940800" y="615750"/>
            <a:ext cx="483205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API Gateway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as a </a:t>
            </a:r>
            <a:r>
              <a:rPr lang="en-US" b="1" dirty="0"/>
              <a:t>single entry point</a:t>
            </a:r>
            <a:r>
              <a:rPr lang="en-US" dirty="0"/>
              <a:t> for all client requests to backend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</a:t>
            </a:r>
            <a:r>
              <a:rPr lang="en-US" b="1" dirty="0"/>
              <a:t>security, routing, monitoring, and traffic control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Rate Limiting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Limits the </a:t>
            </a:r>
            <a:r>
              <a:rPr lang="en-US" b="1" u="sng" dirty="0"/>
              <a:t>number</a:t>
            </a:r>
            <a:r>
              <a:rPr lang="en-US" dirty="0"/>
              <a:t> of API requests a user can make in a given time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100 requests per minute per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prevent API abuse and excessive usage.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Throttling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the </a:t>
            </a:r>
            <a:r>
              <a:rPr lang="en-US" b="1" u="sng" dirty="0"/>
              <a:t>speed</a:t>
            </a:r>
            <a:r>
              <a:rPr lang="en-US" dirty="0"/>
              <a:t> of incoming API requests when traffic is too high.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 requests are delayed or rejected.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the system from overload and performance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3A220-69E5-F3DA-5411-0E782364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2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C181-1E81-CAEA-02F9-11065296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C2FCE239-9BAC-63FB-25AE-4506A1C2EB4C}"/>
              </a:ext>
            </a:extLst>
          </p:cNvPr>
          <p:cNvSpPr/>
          <p:nvPr/>
        </p:nvSpPr>
        <p:spPr>
          <a:xfrm>
            <a:off x="373691" y="1690162"/>
            <a:ext cx="2391106" cy="2296785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Lato"/>
                <a:ea typeface="Lato"/>
                <a:cs typeface="Lato"/>
              </a:rPr>
              <a:t>Versioning Strategy</a:t>
            </a:r>
            <a:endParaRPr lang="en-US" dirty="0"/>
          </a:p>
          <a:p>
            <a:endParaRPr lang="en-US" sz="1600" b="1" dirty="0">
              <a:latin typeface="Lato"/>
              <a:ea typeface="Lato"/>
              <a:cs typeface="Lato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semantic versioning (v1, v2, v3)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manage updates without breaking existing consumers.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Support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parallel API versions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allow a smooth migration from legacy to modern services.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Implement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feature flags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control feature rollouts.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45F362B2-CB8D-D69E-686B-0B07A3EAD21C}"/>
              </a:ext>
            </a:extLst>
          </p:cNvPr>
          <p:cNvSpPr/>
          <p:nvPr/>
        </p:nvSpPr>
        <p:spPr>
          <a:xfrm>
            <a:off x="2927421" y="1690162"/>
            <a:ext cx="2391106" cy="2296785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Lato"/>
                <a:ea typeface="Lato"/>
                <a:cs typeface="Lato"/>
              </a:rPr>
              <a:t>Architectural Style Selection</a:t>
            </a:r>
            <a:endParaRPr lang="en-US" dirty="0"/>
          </a:p>
          <a:p>
            <a:endParaRPr lang="en-US" sz="1600" b="1" dirty="0">
              <a:latin typeface="Lato"/>
              <a:ea typeface="Lato"/>
              <a:cs typeface="Lato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REST (Representational State Transfer)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– Best for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public APIs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with broad client compatibility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143016D0-661A-8047-B978-5EC5967D49E2}"/>
              </a:ext>
            </a:extLst>
          </p:cNvPr>
          <p:cNvSpPr/>
          <p:nvPr/>
        </p:nvSpPr>
        <p:spPr>
          <a:xfrm>
            <a:off x="5470853" y="1690162"/>
            <a:ext cx="2905970" cy="2296785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Consistent Resource Naming &amp; Structure</a:t>
            </a:r>
            <a:endParaRPr lang="en-US" dirty="0"/>
          </a:p>
          <a:p>
            <a:endParaRPr lang="en-US" sz="1600" b="1" dirty="0">
              <a:latin typeface="Lato"/>
              <a:ea typeface="Lato"/>
              <a:cs typeface="Lato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nouns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resources (/orders, /patients, /labs) and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verbs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actions (POST /orders, PATCH /orders/{id}).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Follow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plural naming conventions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collections (/users instead of /user).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Implement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query parameters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filtering (/</a:t>
            </a:r>
            <a:r>
              <a:rPr lang="en-US" sz="1000" dirty="0" err="1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orders?status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=pending).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A0992F83-1B8E-DE32-5362-5B0C0B18FFA3}"/>
              </a:ext>
            </a:extLst>
          </p:cNvPr>
          <p:cNvSpPr/>
          <p:nvPr/>
        </p:nvSpPr>
        <p:spPr>
          <a:xfrm>
            <a:off x="8539447" y="1690162"/>
            <a:ext cx="3482618" cy="2296785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Error Handling &amp; Standardized Responses</a:t>
            </a:r>
            <a:endParaRPr lang="en-US" dirty="0"/>
          </a:p>
          <a:p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standard HTTP status codes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: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200 OK – Successful request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201 Created – Resource successfully created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400 Bad Request – Invalid input</a:t>
            </a:r>
            <a:endParaRPr lang="en-US" b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401 Unauthorized – Authentication required</a:t>
            </a:r>
            <a:endParaRPr lang="en-US" b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404 Not Found – Resource doesn’t exist</a:t>
            </a:r>
            <a:endParaRPr lang="en-US" b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500 Internal Server Error – System failure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Return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structured error messages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with clear descriptions</a:t>
            </a:r>
            <a:endParaRPr lang="en-US" dirty="0"/>
          </a:p>
          <a:p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B01B1D05-ABAA-43E0-F04F-22577190A4DF}"/>
              </a:ext>
            </a:extLst>
          </p:cNvPr>
          <p:cNvSpPr/>
          <p:nvPr/>
        </p:nvSpPr>
        <p:spPr>
          <a:xfrm>
            <a:off x="373691" y="4565464"/>
            <a:ext cx="2968530" cy="2030639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Authentication &amp; Authorization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OAuth 2.0 / OpenID Connect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secure authentication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Implement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RBAC (Role-Based Access Control)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Enforce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API keys, JWT (JSON Web Tokens), or </a:t>
            </a:r>
            <a:r>
              <a:rPr lang="en-US" sz="1000" b="1" dirty="0" err="1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mTLS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(Mutual TLS)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D031FC49-92F5-FFF3-32BE-0342DB24D6D1}"/>
              </a:ext>
            </a:extLst>
          </p:cNvPr>
          <p:cNvSpPr/>
          <p:nvPr/>
        </p:nvSpPr>
        <p:spPr>
          <a:xfrm>
            <a:off x="3426354" y="4572652"/>
            <a:ext cx="2661945" cy="2024033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Rate Limiting &amp; Throttling</a:t>
            </a:r>
            <a:endParaRPr lang="en-US" dirty="0"/>
          </a:p>
          <a:p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API gateways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prevent abuse with: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Rate limiting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(X requests per second per user)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Throttling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(slowing down API requests if limits are exceeded)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Circuit breakers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prevent cascading failures.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031928D7-7361-B5DF-A5CE-A857C316AFD4}"/>
              </a:ext>
            </a:extLst>
          </p:cNvPr>
          <p:cNvSpPr/>
          <p:nvPr/>
        </p:nvSpPr>
        <p:spPr>
          <a:xfrm>
            <a:off x="6194772" y="4569543"/>
            <a:ext cx="2189823" cy="2024033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Secure Data Handling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Encrypt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sensitive data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using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TLS 1.2+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Mask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Personally Identifiable Information (PII)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audit logging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for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compliance tracking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CAA8E7-42A8-0E77-48B3-02F7506B7D0B}"/>
              </a:ext>
            </a:extLst>
          </p:cNvPr>
          <p:cNvSpPr txBox="1"/>
          <p:nvPr/>
        </p:nvSpPr>
        <p:spPr>
          <a:xfrm>
            <a:off x="370703" y="4087272"/>
            <a:ext cx="800876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Security &amp; Compliance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758CF-9FEC-6D61-47BC-6B3FE4FDDB0A}"/>
              </a:ext>
            </a:extLst>
          </p:cNvPr>
          <p:cNvSpPr txBox="1"/>
          <p:nvPr/>
        </p:nvSpPr>
        <p:spPr>
          <a:xfrm>
            <a:off x="370703" y="1215080"/>
            <a:ext cx="116462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API Design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73022989-B516-C740-88E4-B14D11194819}"/>
              </a:ext>
            </a:extLst>
          </p:cNvPr>
          <p:cNvSpPr/>
          <p:nvPr/>
        </p:nvSpPr>
        <p:spPr>
          <a:xfrm>
            <a:off x="8540030" y="4572653"/>
            <a:ext cx="3489222" cy="2031222"/>
          </a:xfrm>
          <a:prstGeom prst="roundRect">
            <a:avLst>
              <a:gd name="adj" fmla="val 419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304800" dist="101600" dir="5400000" rotWithShape="0">
              <a:schemeClr val="tx2">
                <a:lumMod val="75000"/>
                <a:lumOff val="25000"/>
                <a:alpha val="24000"/>
              </a:schemeClr>
            </a:outerShdw>
          </a:effectLst>
        </p:spPr>
        <p:txBody>
          <a:bodyPr wrap="square" lIns="152400" tIns="152400" rIns="152400" bIns="152400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ea typeface="+mn-lt"/>
                <a:cs typeface="+mn-lt"/>
              </a:rPr>
              <a:t>API Metrics, Logging &amp; Tracing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Monitor key metrics such as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latency, error rates, and request volume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Store structured logs in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AWS CloudWatch, ELK Stack, or Datadog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Implement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tracing mechanisms (e.g., </a:t>
            </a:r>
            <a:r>
              <a:rPr lang="en-US" sz="1000" b="1" dirty="0" err="1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OpenTelemetry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Jaeger, Zipkin)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to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trace requests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across microservices.</a:t>
            </a: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API Gateway health monitoring</a:t>
            </a:r>
            <a:r>
              <a:rPr lang="en-US" sz="1000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(/health endpoint) for </a:t>
            </a:r>
            <a:r>
              <a:rPr lang="en-US" sz="1000" b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real-time status checks</a:t>
            </a: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C73DAD-E6F4-13FC-868E-156043AC4289}"/>
              </a:ext>
            </a:extLst>
          </p:cNvPr>
          <p:cNvSpPr txBox="1"/>
          <p:nvPr/>
        </p:nvSpPr>
        <p:spPr>
          <a:xfrm>
            <a:off x="8537042" y="4087272"/>
            <a:ext cx="347990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API Observability &amp; Monitoring</a:t>
            </a:r>
          </a:p>
        </p:txBody>
      </p:sp>
      <p:sp>
        <p:nvSpPr>
          <p:cNvPr id="3" name="Definition, Design &amp; Prototyping">
            <a:extLst>
              <a:ext uri="{FF2B5EF4-FFF2-40B4-BE49-F238E27FC236}">
                <a16:creationId xmlns:a16="http://schemas.microsoft.com/office/drawing/2014/main" id="{30606FEC-6013-2D6D-BE31-61B1F2CF5397}"/>
              </a:ext>
            </a:extLst>
          </p:cNvPr>
          <p:cNvSpPr txBox="1"/>
          <p:nvPr/>
        </p:nvSpPr>
        <p:spPr>
          <a:xfrm>
            <a:off x="370703" y="489368"/>
            <a:ext cx="857840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ctr">
            <a:spAutoFit/>
          </a:bodyPr>
          <a:lstStyle>
            <a:defPPr>
              <a:defRPr lang="en-US"/>
            </a:defPPr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18B6D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  <a:latin typeface="Lato"/>
                <a:ea typeface="Lato"/>
                <a:cs typeface="Lato"/>
              </a:rPr>
              <a:t>Best Practices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C50D7-C09C-C4D8-B3EF-67F40CD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7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7012DE-9D71-8866-D326-D280ED38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142678"/>
              </p:ext>
            </p:extLst>
          </p:nvPr>
        </p:nvGraphicFramePr>
        <p:xfrm>
          <a:off x="402672" y="274320"/>
          <a:ext cx="10926984" cy="6141453"/>
        </p:xfrm>
        <a:graphic>
          <a:graphicData uri="http://schemas.openxmlformats.org/drawingml/2006/table">
            <a:tbl>
              <a:tblPr/>
              <a:tblGrid>
                <a:gridCol w="5243546">
                  <a:extLst>
                    <a:ext uri="{9D8B030D-6E8A-4147-A177-3AD203B41FA5}">
                      <a16:colId xmlns:a16="http://schemas.microsoft.com/office/drawing/2014/main" val="1950209413"/>
                    </a:ext>
                  </a:extLst>
                </a:gridCol>
                <a:gridCol w="5683438">
                  <a:extLst>
                    <a:ext uri="{9D8B030D-6E8A-4147-A177-3AD203B41FA5}">
                      <a16:colId xmlns:a16="http://schemas.microsoft.com/office/drawing/2014/main" val="219263231"/>
                    </a:ext>
                  </a:extLst>
                </a:gridCol>
              </a:tblGrid>
              <a:tr h="9312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Synchronous Communication</a:t>
                      </a:r>
                      <a:r>
                        <a:rPr lang="en-IN" sz="2000" dirty="0"/>
                        <a:t> 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Asynchronous communication</a:t>
                      </a:r>
                      <a:r>
                        <a:rPr lang="en-IN" sz="2000" dirty="0"/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IN" sz="2000" b="1" dirty="0"/>
                        <a:t>(Fire-and-Forget)</a:t>
                      </a:r>
                      <a:endParaRPr lang="en-IN" sz="2000" dirty="0"/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559498"/>
                  </a:ext>
                </a:extLst>
              </a:tr>
              <a:tr h="9312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dirty="0"/>
                        <a:t>Sender </a:t>
                      </a:r>
                      <a:r>
                        <a:rPr lang="en-US" sz="2000" b="1" dirty="0"/>
                        <a:t>waits</a:t>
                      </a:r>
                      <a:r>
                        <a:rPr lang="en-US" sz="2000" b="0" dirty="0"/>
                        <a:t> for a response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dirty="0"/>
                        <a:t>Sender </a:t>
                      </a:r>
                      <a:r>
                        <a:rPr lang="en-US" sz="2000" b="1" dirty="0"/>
                        <a:t>does not wait </a:t>
                      </a:r>
                      <a:r>
                        <a:rPr lang="en-US" sz="2000" b="0" dirty="0"/>
                        <a:t>for a response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23844"/>
                  </a:ext>
                </a:extLst>
              </a:tr>
              <a:tr h="9312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dirty="0"/>
                        <a:t>Communication happens in real time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/>
                        <a:t>Communication happens in background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863238"/>
                  </a:ext>
                </a:extLst>
              </a:tr>
              <a:tr h="5537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dirty="0"/>
                        <a:t>Slower if the service is busy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/>
                        <a:t>Faster and more scalable</a:t>
                      </a:r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405316"/>
                  </a:ext>
                </a:extLst>
              </a:tr>
              <a:tr h="27939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/>
                        <a:t>Example: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/>
                        <a:t>API request → response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When a user logs in, the application sends credentials to the authentication service and </a:t>
                      </a:r>
                      <a:r>
                        <a:rPr lang="en-US" sz="2000" b="1" dirty="0"/>
                        <a:t>waits for the response</a:t>
                      </a:r>
                      <a:r>
                        <a:rPr lang="en-US" sz="2000" dirty="0"/>
                        <a:t> before granting access</a:t>
                      </a:r>
                      <a:endParaRPr lang="en-IN" sz="2000" b="0" dirty="0"/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b="0" dirty="0"/>
                        <a:t>   Example: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/>
                        <a:t>Message queue(SQS) / event system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Services send logs to a logging system asynchronously so the application can continue running without waiting for a response</a:t>
                      </a:r>
                      <a:endParaRPr lang="en-IN" sz="2000" b="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b="0" dirty="0"/>
                    </a:p>
                  </a:txBody>
                  <a:tcPr marL="120763" marR="120763" marT="60382" marB="603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0948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3F0A0-496C-D26B-A169-922239601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CB708F-3B47-0364-F4FD-8D1B927A4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27081"/>
              </p:ext>
            </p:extLst>
          </p:nvPr>
        </p:nvGraphicFramePr>
        <p:xfrm>
          <a:off x="521208" y="722376"/>
          <a:ext cx="10603474" cy="4663440"/>
        </p:xfrm>
        <a:graphic>
          <a:graphicData uri="http://schemas.openxmlformats.org/drawingml/2006/table">
            <a:tbl>
              <a:tblPr/>
              <a:tblGrid>
                <a:gridCol w="5090979">
                  <a:extLst>
                    <a:ext uri="{9D8B030D-6E8A-4147-A177-3AD203B41FA5}">
                      <a16:colId xmlns:a16="http://schemas.microsoft.com/office/drawing/2014/main" val="388438569"/>
                    </a:ext>
                  </a:extLst>
                </a:gridCol>
                <a:gridCol w="5512495">
                  <a:extLst>
                    <a:ext uri="{9D8B030D-6E8A-4147-A177-3AD203B41FA5}">
                      <a16:colId xmlns:a16="http://schemas.microsoft.com/office/drawing/2014/main" val="1754602915"/>
                    </a:ext>
                  </a:extLst>
                </a:gridCol>
              </a:tblGrid>
              <a:tr h="697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Monolithic Architecture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Microservices Architecture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304913"/>
                  </a:ext>
                </a:extLst>
              </a:tr>
              <a:tr h="697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Single large application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Many small independent services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097278"/>
                  </a:ext>
                </a:extLst>
              </a:tr>
              <a:tr h="697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 components tightly connected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Services are loosely connected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81170"/>
                  </a:ext>
                </a:extLst>
              </a:tr>
              <a:tr h="697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Hard to scale parts separately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Easy to scale each service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170066"/>
                  </a:ext>
                </a:extLst>
              </a:tr>
              <a:tr h="697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One failure can affect whole system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Failure affects only one service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293863"/>
                  </a:ext>
                </a:extLst>
              </a:tr>
              <a:tr h="1173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Simple to start development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Better for large and complex systems</a:t>
                      </a:r>
                    </a:p>
                  </a:txBody>
                  <a:tcPr marL="115862" marR="115862" marT="57931" marB="579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35655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3C761-E1F5-2081-B93D-5C4B8F27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17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1F33-6A5A-31B9-D952-2417EB4B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finition, Design &amp; Prototyping">
            <a:extLst>
              <a:ext uri="{FF2B5EF4-FFF2-40B4-BE49-F238E27FC236}">
                <a16:creationId xmlns:a16="http://schemas.microsoft.com/office/drawing/2014/main" id="{A99C2E8B-01D8-7A57-6353-02B6B394AD0A}"/>
              </a:ext>
            </a:extLst>
          </p:cNvPr>
          <p:cNvSpPr txBox="1"/>
          <p:nvPr/>
        </p:nvSpPr>
        <p:spPr>
          <a:xfrm>
            <a:off x="290220" y="576889"/>
            <a:ext cx="9236949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ctr">
            <a:spAutoFit/>
          </a:bodyPr>
          <a:lstStyle>
            <a:defPPr>
              <a:defRPr lang="en-US"/>
            </a:defPPr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18B6D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12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Event Driven Microservices 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87CC8-3318-47AA-89B5-637BC64E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10817-C5DD-8A81-6903-49AFE5B44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35" y="1478280"/>
            <a:ext cx="7139029" cy="4222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943982-327F-8930-4A19-11DAD9F1D5F5}"/>
              </a:ext>
            </a:extLst>
          </p:cNvPr>
          <p:cNvSpPr txBox="1"/>
          <p:nvPr/>
        </p:nvSpPr>
        <p:spPr>
          <a:xfrm>
            <a:off x="7320864" y="1053260"/>
            <a:ext cx="441260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i="1" dirty="0">
                <a:latin typeface="Lato"/>
                <a:ea typeface="Lato"/>
                <a:cs typeface="Lato"/>
              </a:rPr>
              <a:t>Monolith </a:t>
            </a:r>
            <a:r>
              <a:rPr lang="en-US" i="1" dirty="0">
                <a:latin typeface="Lato"/>
                <a:ea typeface="Lato"/>
                <a:cs typeface="Lato"/>
                <a:sym typeface="Wingdings" pitchFamily="2" charset="2"/>
              </a:rPr>
              <a:t></a:t>
            </a:r>
            <a:r>
              <a:rPr lang="en-US" i="1" dirty="0">
                <a:latin typeface="Lato"/>
                <a:ea typeface="Lato"/>
                <a:cs typeface="Lato"/>
              </a:rPr>
              <a:t> Microservices </a:t>
            </a:r>
            <a:r>
              <a:rPr lang="en-US" i="1" dirty="0">
                <a:latin typeface="Lato"/>
                <a:ea typeface="Lato"/>
                <a:cs typeface="Lato"/>
                <a:sym typeface="Wingdings" pitchFamily="2" charset="2"/>
              </a:rPr>
              <a:t> Event Based Microservices</a:t>
            </a:r>
          </a:p>
          <a:p>
            <a:endParaRPr lang="en-US" i="1" dirty="0">
              <a:latin typeface="Lato"/>
              <a:ea typeface="Lato"/>
              <a:cs typeface="Lato"/>
              <a:sym typeface="Wingdings" pitchFamily="2" charset="2"/>
            </a:endParaRPr>
          </a:p>
          <a:p>
            <a:r>
              <a:rPr lang="en-US" i="1" dirty="0">
                <a:latin typeface="Lato"/>
                <a:ea typeface="Lato"/>
                <a:cs typeface="Lato"/>
                <a:sym typeface="Wingdings" pitchFamily="2" charset="2"/>
              </a:rPr>
              <a:t>Api-&gt;</a:t>
            </a:r>
            <a:r>
              <a:rPr lang="en-IN" dirty="0"/>
              <a:t>publish events.</a:t>
            </a:r>
            <a:endParaRPr lang="en-US" i="1" dirty="0">
              <a:latin typeface="Lato"/>
              <a:ea typeface="Lato"/>
              <a:cs typeface="Lato"/>
              <a:sym typeface="Wingdings" pitchFamily="2" charset="2"/>
            </a:endParaRPr>
          </a:p>
          <a:p>
            <a:endParaRPr lang="en-US" i="1" dirty="0">
              <a:latin typeface="Lato"/>
              <a:ea typeface="Lato"/>
              <a:cs typeface="Lato"/>
              <a:sym typeface="Wingdings" pitchFamily="2" charset="2"/>
            </a:endParaRPr>
          </a:p>
          <a:p>
            <a:r>
              <a:rPr lang="en-IN" dirty="0"/>
              <a:t>Decoupling Through Asynchronous Communication</a:t>
            </a:r>
          </a:p>
          <a:p>
            <a:endParaRPr lang="en-US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Event Streams as a Reliable Source of Truth</a:t>
            </a:r>
          </a:p>
          <a:p>
            <a:r>
              <a:rPr lang="en-IN" dirty="0"/>
              <a:t>Smarter, On-Demand Scaling</a:t>
            </a:r>
            <a:endParaRPr lang="en-IN" sz="2000" dirty="0"/>
          </a:p>
          <a:p>
            <a:br>
              <a:rPr lang="en-IN" dirty="0"/>
            </a:br>
            <a:r>
              <a:rPr lang="en-IN" sz="1800" dirty="0"/>
              <a:t>e.g. Real-time order updates automatically synchronize across inventory, shipping, and payments. Better customer experience through accurate, up-to-date order tracking.</a:t>
            </a:r>
          </a:p>
          <a:p>
            <a:pPr marL="0" marR="0" lvl="0" indent="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267673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E8E1309-4156-3ABD-A637-51359CE2F3C5}"/>
              </a:ext>
            </a:extLst>
          </p:cNvPr>
          <p:cNvSpPr txBox="1"/>
          <p:nvPr/>
        </p:nvSpPr>
        <p:spPr>
          <a:xfrm>
            <a:off x="761800" y="429490"/>
            <a:ext cx="9589765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Domain-Driven Design (DDD)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54184B-26C3-017E-F8F1-4F84E12310C1}"/>
              </a:ext>
            </a:extLst>
          </p:cNvPr>
          <p:cNvSpPr txBox="1"/>
          <p:nvPr/>
        </p:nvSpPr>
        <p:spPr>
          <a:xfrm>
            <a:off x="880672" y="1688027"/>
            <a:ext cx="9590349" cy="321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Domain-Driven Design (DDD) is a software design approach that focuses on </a:t>
            </a:r>
            <a:r>
              <a:rPr lang="en-US" sz="2000" b="1" dirty="0"/>
              <a:t>understanding the business domain</a:t>
            </a:r>
            <a:r>
              <a:rPr lang="en-US" sz="2000" dirty="0"/>
              <a:t> and building software that matches </a:t>
            </a:r>
            <a:r>
              <a:rPr lang="en-US" sz="2000" b="1" dirty="0"/>
              <a:t>business needs and logic</a:t>
            </a:r>
            <a:r>
              <a:rPr lang="en-US" sz="2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Key Concepts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Ubiquitous Language:</a:t>
            </a:r>
            <a:r>
              <a:rPr lang="en-US" sz="2000" dirty="0"/>
              <a:t> A common language shared by </a:t>
            </a:r>
            <a:r>
              <a:rPr lang="en-US" sz="2000" b="1" dirty="0"/>
              <a:t>developers and business experts</a:t>
            </a:r>
            <a:r>
              <a:rPr lang="en-US" sz="2000" dirty="0"/>
              <a:t> to avoid confusion.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Bounded Context:</a:t>
            </a:r>
            <a:r>
              <a:rPr lang="en-US" sz="2000" dirty="0"/>
              <a:t> A clear </a:t>
            </a:r>
            <a:r>
              <a:rPr lang="en-US" sz="2000" b="1" dirty="0"/>
              <a:t>boundary where a specific model or service works</a:t>
            </a:r>
            <a:r>
              <a:rPr lang="en-US" sz="2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Sub-domains:</a:t>
            </a:r>
            <a:r>
              <a:rPr lang="en-US" sz="2000" dirty="0"/>
              <a:t> Smaller </a:t>
            </a:r>
            <a:r>
              <a:rPr lang="en-US" sz="2000" b="1" dirty="0"/>
              <a:t>parts of a business domain</a:t>
            </a:r>
            <a:r>
              <a:rPr lang="en-US" sz="2000" dirty="0"/>
              <a:t> that divide complex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54569-F554-2276-682D-68815349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90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5DB8-6D2F-24A1-C706-470CDC2D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finition, Design &amp; Prototyping">
            <a:extLst>
              <a:ext uri="{FF2B5EF4-FFF2-40B4-BE49-F238E27FC236}">
                <a16:creationId xmlns:a16="http://schemas.microsoft.com/office/drawing/2014/main" id="{9A22283E-0571-8DAA-FCFB-C7AE9C4DD322}"/>
              </a:ext>
            </a:extLst>
          </p:cNvPr>
          <p:cNvSpPr txBox="1"/>
          <p:nvPr/>
        </p:nvSpPr>
        <p:spPr>
          <a:xfrm>
            <a:off x="338347" y="1174337"/>
            <a:ext cx="4359488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ctr">
            <a:spAutoFit/>
          </a:bodyPr>
          <a:lstStyle>
            <a:defPPr>
              <a:defRPr lang="en-US"/>
            </a:defPPr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18B6D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12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Definition, Design &amp; Prototyping">
            <a:extLst>
              <a:ext uri="{FF2B5EF4-FFF2-40B4-BE49-F238E27FC236}">
                <a16:creationId xmlns:a16="http://schemas.microsoft.com/office/drawing/2014/main" id="{C028E073-1BD9-75AA-A557-2F24AE760D5B}"/>
              </a:ext>
            </a:extLst>
          </p:cNvPr>
          <p:cNvSpPr txBox="1"/>
          <p:nvPr/>
        </p:nvSpPr>
        <p:spPr>
          <a:xfrm>
            <a:off x="338347" y="569043"/>
            <a:ext cx="6734979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ctr">
            <a:spAutoFit/>
          </a:bodyPr>
          <a:lstStyle>
            <a:defPPr>
              <a:defRPr lang="en-US"/>
            </a:defPPr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18B6D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12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Problem Space Definition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4A7CD-1C5A-A999-3B80-33C507AB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23B14-9562-AA76-5548-7FBA731B29A0}"/>
              </a:ext>
            </a:extLst>
          </p:cNvPr>
          <p:cNvSpPr txBox="1"/>
          <p:nvPr/>
        </p:nvSpPr>
        <p:spPr>
          <a:xfrm>
            <a:off x="338347" y="1199376"/>
            <a:ext cx="4699997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Domain-Driven Design (DDD) helps teams understand, model, and segment complex business problems by aligning technical solutions with the business domain. </a:t>
            </a:r>
          </a:p>
          <a:p>
            <a:pPr marL="0" marR="0" lvl="0" indent="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  <a:p>
            <a:pPr marL="0" marR="0" lvl="0" indent="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DDD allow teams to:</a:t>
            </a:r>
          </a:p>
          <a:p>
            <a:pPr marL="0" marR="0" lvl="0" indent="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  <a:p>
            <a:pPr marL="171450" marR="0" lvl="0" indent="-17145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Identify the problem space through domain exploration and business logic segmentation.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  <a:p>
            <a:pPr marL="171450" marR="0" lvl="0" indent="-17145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Avoid monolithic, tightly coupled architectures by creating modular, context-specific solutions.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  <a:p>
            <a:pPr marL="171450" marR="0" lvl="0" indent="-17145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Improve collaboration between domain experts and developers using a shared domain language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 Bold"/>
              </a:rPr>
              <a:t>.</a:t>
            </a:r>
          </a:p>
          <a:p>
            <a:pPr marL="171450" marR="0" lvl="0" indent="-171450" algn="l" defTabSz="63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4000">
                <a:latin typeface="Lato Bold"/>
                <a:ea typeface="Lato Bold"/>
                <a:cs typeface="Lato Bold"/>
                <a:sym typeface="Lato Bold"/>
              </a:defRPr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Lato"/>
              <a:ea typeface="Lato"/>
              <a:cs typeface="Lato"/>
              <a:sym typeface="Lato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906C5-1874-0588-AD7D-127D3D27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888" y="1199376"/>
            <a:ext cx="6592220" cy="3658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8EACFA-A0E5-A611-4679-DB5B47F6B403}"/>
              </a:ext>
            </a:extLst>
          </p:cNvPr>
          <p:cNvSpPr txBox="1"/>
          <p:nvPr/>
        </p:nvSpPr>
        <p:spPr>
          <a:xfrm>
            <a:off x="416335" y="5058459"/>
            <a:ext cx="11437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Core Domain </a:t>
            </a:r>
            <a:r>
              <a:rPr lang="en-US" sz="1600" dirty="0"/>
              <a:t>– Main business logic that gives competitive advantage (Example: Order processing in an e-commerce system).</a:t>
            </a:r>
          </a:p>
          <a:p>
            <a:r>
              <a:rPr lang="en-US" sz="1600" b="1" dirty="0"/>
              <a:t>Supporting Domain </a:t>
            </a:r>
            <a:r>
              <a:rPr lang="en-US" sz="1600" dirty="0"/>
              <a:t>– Helps the core domain operate smoothly (Example: Product catalog or customer management).</a:t>
            </a:r>
          </a:p>
          <a:p>
            <a:r>
              <a:rPr lang="en-US" sz="1600" b="1" dirty="0"/>
              <a:t>Generic Domain </a:t>
            </a:r>
            <a:r>
              <a:rPr lang="en-US" sz="1600" dirty="0"/>
              <a:t>– Common functionalities used in many systems (Example: Login authentication or email notifications).</a:t>
            </a:r>
          </a:p>
        </p:txBody>
      </p:sp>
    </p:spTree>
    <p:extLst>
      <p:ext uri="{BB962C8B-B14F-4D97-AF65-F5344CB8AC3E}">
        <p14:creationId xmlns:p14="http://schemas.microsoft.com/office/powerpoint/2010/main" val="300569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77F50-E36D-CD33-FE8E-C83299EF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502" r="2241" b="754"/>
          <a:stretch>
            <a:fillRect/>
          </a:stretch>
        </p:blipFill>
        <p:spPr>
          <a:xfrm>
            <a:off x="665480" y="2409418"/>
            <a:ext cx="10617713" cy="367134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434E7-111B-8CC1-1368-81A152CA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6BF64C-23B5-6567-8274-5E6CBF96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65" y="667580"/>
            <a:ext cx="1050761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unique identifier attached to a request so it can be tracked across multiple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 a single request across microservices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logs, metrics, and traces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debugging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developers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quickly identify where an error occurred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58738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BC9635-1D53-1C14-6397-76D9E9A9881E}"/>
              </a:ext>
            </a:extLst>
          </p:cNvPr>
          <p:cNvSpPr txBox="1"/>
          <p:nvPr/>
        </p:nvSpPr>
        <p:spPr>
          <a:xfrm>
            <a:off x="669991" y="311854"/>
            <a:ext cx="7015498" cy="123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Logs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2D2B0E-6CBE-A1C0-4FD4-3EC4302C6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93291"/>
              </p:ext>
            </p:extLst>
          </p:nvPr>
        </p:nvGraphicFramePr>
        <p:xfrm>
          <a:off x="669991" y="1470823"/>
          <a:ext cx="10932451" cy="4453490"/>
        </p:xfrm>
        <a:graphic>
          <a:graphicData uri="http://schemas.openxmlformats.org/drawingml/2006/table">
            <a:tbl>
              <a:tblPr/>
              <a:tblGrid>
                <a:gridCol w="1998596">
                  <a:extLst>
                    <a:ext uri="{9D8B030D-6E8A-4147-A177-3AD203B41FA5}">
                      <a16:colId xmlns:a16="http://schemas.microsoft.com/office/drawing/2014/main" val="335528043"/>
                    </a:ext>
                  </a:extLst>
                </a:gridCol>
                <a:gridCol w="3403772">
                  <a:extLst>
                    <a:ext uri="{9D8B030D-6E8A-4147-A177-3AD203B41FA5}">
                      <a16:colId xmlns:a16="http://schemas.microsoft.com/office/drawing/2014/main" val="613253006"/>
                    </a:ext>
                  </a:extLst>
                </a:gridCol>
                <a:gridCol w="5530083">
                  <a:extLst>
                    <a:ext uri="{9D8B030D-6E8A-4147-A177-3AD203B41FA5}">
                      <a16:colId xmlns:a16="http://schemas.microsoft.com/office/drawing/2014/main" val="909824783"/>
                    </a:ext>
                  </a:extLst>
                </a:gridCol>
              </a:tblGrid>
              <a:tr h="3125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/>
                        <a:t>Log Type</a:t>
                      </a:r>
                      <a:endParaRPr lang="en-IN" sz="32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/>
                        <a:t>Purpose</a:t>
                      </a:r>
                      <a:endParaRPr lang="en-IN" sz="32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/>
                        <a:t>Example</a:t>
                      </a:r>
                      <a:endParaRPr lang="en-IN" sz="32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185201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Error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Indicates something failed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Payment processing failed for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=5001 at 2026-03-12 10:15:30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95897"/>
                  </a:ext>
                </a:extLst>
              </a:tr>
              <a:tr h="3125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Warning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Something unusual happened but not critical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Disk space low on server-2 at 2026-03-12 10:16:00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044179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Info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Normal events or actions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User login successful for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user_id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=101 at 2026-03-12 10:16:30</a:t>
                      </a:r>
                      <a:endParaRPr lang="en-IN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94339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Debug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For developers to trace program flow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API response payload: {"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status":"ok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"} at 2026-03-12 10:17:00</a:t>
                      </a:r>
                      <a:endParaRPr lang="en-IN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806551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Trace Log</a:t>
                      </a:r>
                      <a:endParaRPr lang="en-IN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Very fine-grained details for tracing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Entering function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calculateTax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() with params amount=500 at 2026-03-12 10:17:10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182327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Fatal Log</a:t>
                      </a:r>
                      <a:endParaRPr lang="en-IN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Severe errors that usually stop the application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Out of memory, shutting down process at 2026-03-12 10:17:30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06235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Audit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Records important user actions for security/compliance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User 101 changed password at 2026-03-12 10:18:00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094057"/>
                  </a:ext>
                </a:extLst>
              </a:tr>
              <a:tr h="5146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Event Log</a:t>
                      </a:r>
                      <a:endParaRPr lang="en-IN" sz="140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Specific events or state changes in the system</a:t>
                      </a:r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New order placed with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=5002 at 2026-03-12 10:18:30</a:t>
                      </a:r>
                      <a:endParaRPr lang="en-US" sz="1400" dirty="0"/>
                    </a:p>
                  </a:txBody>
                  <a:tcPr marL="50877" marR="50877" marT="25438" marB="25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67721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A26B9D-4646-E3FE-824A-91399DCD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9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D704A-AD0B-3A0E-D4AC-468CEC586A82}"/>
              </a:ext>
            </a:extLst>
          </p:cNvPr>
          <p:cNvSpPr txBox="1"/>
          <p:nvPr/>
        </p:nvSpPr>
        <p:spPr>
          <a:xfrm>
            <a:off x="1050072" y="463715"/>
            <a:ext cx="98764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OpenTelemetry</a:t>
            </a:r>
            <a:r>
              <a:rPr lang="en-IN" b="1" dirty="0"/>
              <a:t> (</a:t>
            </a:r>
            <a:r>
              <a:rPr lang="en-IN" b="1" dirty="0" err="1"/>
              <a:t>OTel</a:t>
            </a:r>
            <a:r>
              <a:rPr lang="en-IN" b="1" dirty="0"/>
              <a:t>) </a:t>
            </a:r>
            <a:r>
              <a:rPr lang="en-IN" dirty="0"/>
              <a:t>collects </a:t>
            </a:r>
            <a:r>
              <a:rPr lang="en-IN" b="1" dirty="0"/>
              <a:t>logs, metrics, and traces</a:t>
            </a:r>
            <a:r>
              <a:rPr lang="en-IN" dirty="0"/>
              <a:t> from applications.</a:t>
            </a:r>
            <a:br>
              <a:rPr lang="en-IN" dirty="0"/>
            </a:br>
            <a:r>
              <a:rPr lang="en-IN" dirty="0"/>
              <a:t>It helps in </a:t>
            </a:r>
            <a:r>
              <a:rPr lang="en-IN" b="1" dirty="0"/>
              <a:t>monitoring, debugging, and </a:t>
            </a:r>
            <a:r>
              <a:rPr lang="en-IN" b="1" dirty="0" err="1"/>
              <a:t>analyzing</a:t>
            </a:r>
            <a:r>
              <a:rPr lang="en-IN" b="1" dirty="0"/>
              <a:t> performance</a:t>
            </a:r>
            <a:r>
              <a:rPr lang="en-IN" dirty="0"/>
              <a:t> in cloud environments.</a:t>
            </a:r>
            <a:br>
              <a:rPr lang="en-IN" dirty="0"/>
            </a:br>
            <a:r>
              <a:rPr lang="en-IN" dirty="0"/>
              <a:t>Data is sent to </a:t>
            </a:r>
            <a:r>
              <a:rPr lang="en-IN" b="1" dirty="0"/>
              <a:t>cloud backends</a:t>
            </a:r>
            <a:r>
              <a:rPr lang="en-IN" dirty="0"/>
              <a:t> like CloudWatch, Grafana, or Jaeger for visualization.</a:t>
            </a:r>
          </a:p>
          <a:p>
            <a:pPr>
              <a:buNone/>
            </a:pPr>
            <a:r>
              <a:rPr lang="en-US" b="1" dirty="0"/>
              <a:t>Traces</a:t>
            </a:r>
            <a:r>
              <a:rPr lang="en-US" dirty="0"/>
              <a:t> are commonly visualized using tools like </a:t>
            </a:r>
            <a:r>
              <a:rPr lang="en-US" b="1" dirty="0" err="1"/>
              <a:t>SigNoz</a:t>
            </a:r>
            <a:r>
              <a:rPr lang="en-US" dirty="0"/>
              <a:t> or </a:t>
            </a:r>
            <a:r>
              <a:rPr lang="en-US" b="1" dirty="0"/>
              <a:t>Datadog</a:t>
            </a:r>
            <a:r>
              <a:rPr lang="en-US" dirty="0"/>
              <a:t> to track request flow.</a:t>
            </a:r>
            <a:br>
              <a:rPr lang="en-US" dirty="0"/>
            </a:br>
            <a:r>
              <a:rPr lang="en-US" b="1" dirty="0"/>
              <a:t>Metrics</a:t>
            </a:r>
            <a:r>
              <a:rPr lang="en-US" dirty="0"/>
              <a:t> are usually collected with </a:t>
            </a:r>
            <a:r>
              <a:rPr lang="en-US" b="1" dirty="0"/>
              <a:t>Prometheus</a:t>
            </a:r>
            <a:r>
              <a:rPr lang="en-US" dirty="0"/>
              <a:t> and visualized in </a:t>
            </a:r>
            <a:r>
              <a:rPr lang="en-US" b="1" dirty="0"/>
              <a:t>Grafana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Logs</a:t>
            </a:r>
            <a:r>
              <a:rPr lang="en-US" dirty="0"/>
              <a:t> are stored and analyzed using tools like </a:t>
            </a:r>
            <a:r>
              <a:rPr lang="en-US" b="1" dirty="0" err="1"/>
              <a:t>SigNoz</a:t>
            </a:r>
            <a:r>
              <a:rPr lang="en-US" dirty="0"/>
              <a:t> or </a:t>
            </a:r>
            <a:r>
              <a:rPr lang="en-US" b="1" dirty="0"/>
              <a:t>Datadog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B28B6-DCAF-03D1-144D-C432D542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30" y="2218041"/>
            <a:ext cx="8403853" cy="41153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F92A4-ACDD-5C34-7F2B-DB7A5418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4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1F412B-1A8D-9D10-6570-5116B4BFE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58" y="999607"/>
            <a:ext cx="4059032" cy="39808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Terraform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is an Infrastructure as Code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IaC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) tool used to create and manage cloud resources.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It allows developers to define infrastructure using simple configuration files.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Terraform automatically provisions and updates resources across cloud providers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Amazon Web Services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Microsoft Azure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Google Cloud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0DED7-9C3D-961B-EBEF-F43AA024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5" t="1754" r="4548" b="2900"/>
          <a:stretch>
            <a:fillRect/>
          </a:stretch>
        </p:blipFill>
        <p:spPr>
          <a:xfrm>
            <a:off x="4974672" y="461394"/>
            <a:ext cx="6501467" cy="540855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4D8AC0-D72C-5E5C-A878-99E32B5B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67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FC25E-6CA8-8BA0-A33F-FC36D479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46878-E924-85CA-C020-FDC78370CD45}"/>
              </a:ext>
            </a:extLst>
          </p:cNvPr>
          <p:cNvSpPr txBox="1"/>
          <p:nvPr/>
        </p:nvSpPr>
        <p:spPr>
          <a:xfrm>
            <a:off x="553672" y="797510"/>
            <a:ext cx="106629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Release Strategy</a:t>
            </a:r>
            <a:r>
              <a:rPr lang="en-US" sz="2400" dirty="0"/>
              <a:t> means the </a:t>
            </a:r>
            <a:r>
              <a:rPr lang="en-US" sz="2400" b="1" dirty="0"/>
              <a:t>planned approach a team uses to deliver software updates or new versions</a:t>
            </a:r>
            <a:r>
              <a:rPr lang="en-US" sz="2400" dirty="0"/>
              <a:t> to users.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980F8-E714-A9C0-F332-FE9DD999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978"/>
          <a:stretch>
            <a:fillRect/>
          </a:stretch>
        </p:blipFill>
        <p:spPr>
          <a:xfrm>
            <a:off x="680672" y="1929157"/>
            <a:ext cx="10535968" cy="402351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F39F-8210-48A5-6B66-2A529845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A802B-2AD2-D961-8655-6B9415946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768" y="3705586"/>
            <a:ext cx="1474616" cy="43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46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2166-39BE-C718-6100-3C57BE5D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D2798-A4BD-E8B0-4E0C-632A0400640F}"/>
              </a:ext>
            </a:extLst>
          </p:cNvPr>
          <p:cNvSpPr txBox="1"/>
          <p:nvPr/>
        </p:nvSpPr>
        <p:spPr>
          <a:xfrm>
            <a:off x="1904301" y="780176"/>
            <a:ext cx="858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4F6A7-E2A8-53D8-2188-E629C1AB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DF791-462B-36EC-73F7-BEDCF341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61" y="-129249"/>
            <a:ext cx="8142066" cy="5780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48F739-1D97-6622-260D-BB467409AFEF}"/>
              </a:ext>
            </a:extLst>
          </p:cNvPr>
          <p:cNvSpPr txBox="1"/>
          <p:nvPr/>
        </p:nvSpPr>
        <p:spPr>
          <a:xfrm>
            <a:off x="3303270" y="565120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Thank you for staying with me till the end! </a:t>
            </a:r>
            <a:r>
              <a:rPr lang="en-IN" b="1" dirty="0"/>
              <a:t>😊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26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3698</TotalTime>
  <Words>1597</Words>
  <Application>Microsoft Office PowerPoint</Application>
  <PresentationFormat>Widescreen</PresentationFormat>
  <Paragraphs>219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Courier New</vt:lpstr>
      <vt:lpstr>Gill Sans MT</vt:lpstr>
      <vt:lpstr>Lato</vt:lpstr>
      <vt:lpstr>lato regular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2300030244@kluniversity.in</dc:creator>
  <cp:lastModifiedBy>GURIVI REDDY YASASWINI</cp:lastModifiedBy>
  <cp:revision>209</cp:revision>
  <dcterms:created xsi:type="dcterms:W3CDTF">2026-01-29T05:52:33Z</dcterms:created>
  <dcterms:modified xsi:type="dcterms:W3CDTF">2026-03-14T06:33:38Z</dcterms:modified>
</cp:coreProperties>
</file>